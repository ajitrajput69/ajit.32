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6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6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19.xml"/><Relationship Id="rId22" Type="http://schemas.openxmlformats.org/officeDocument/2006/relationships/slide" Target="slides/slide20.xml"/><Relationship Id="rId10" Type="http://schemas.openxmlformats.org/officeDocument/2006/relationships/slide" Target="slides/slide6.xml"/><Relationship Id="rId21" Type="http://schemas.openxmlformats.org/officeDocument/2006/relationships/slide" Target="slides/slide15.xml"/><Relationship Id="rId13" Type="http://schemas.openxmlformats.org/officeDocument/2006/relationships/slide" Target="slides/slide8.xml"/><Relationship Id="rId24" Type="http://schemas.openxmlformats.org/officeDocument/2006/relationships/slide" Target="slides/slide17.xml"/><Relationship Id="rId12" Type="http://schemas.openxmlformats.org/officeDocument/2006/relationships/slide" Target="slides/slide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6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slide" Target="slides/slide1.xml"/><Relationship Id="rId19" Type="http://schemas.openxmlformats.org/officeDocument/2006/relationships/slide" Target="slides/slide13.xml"/><Relationship Id="rId6" Type="http://schemas.openxmlformats.org/officeDocument/2006/relationships/slide" Target="slides/slide2.xml"/><Relationship Id="rId18" Type="http://schemas.openxmlformats.org/officeDocument/2006/relationships/slide" Target="slides/slide18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76e563d6173e93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676e563d6173e93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b436da9fa54c83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7b436da9fa54c8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5d2371c68bcee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75d2371c68bce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F7559-C1E5-4246-AED5-B1B780CF0E0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52B1A-E27D-47B7-8C58-9477FCB4EF5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462915" y="524510"/>
            <a:ext cx="11266800" cy="1723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Photocatalytic Paint for Roadside Air Pollution Reduction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664500" y="2520264"/>
            <a:ext cx="10863000" cy="4050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F5C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Members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Ronit Kumar Dalai – PRN: SCFU125091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Ajit Ranjit Rajput – PRN: SCFU125113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Shrisha Pramod Patil – PRN: SCFU125093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Course: Applied Chemistry for Engineers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Instructor: Dr. Veeranna Yempally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Topic: Sustainable photocatalytic coatings for reducing roadside air pollution.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838200" y="365125"/>
            <a:ext cx="10515600" cy="732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Framing the Problem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838200" y="1561475"/>
            <a:ext cx="5438100" cy="4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3749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pollution near roads is increasing due to vehicle emissions.</a:t>
            </a:r>
            <a:endParaRPr/>
          </a:p>
          <a:p>
            <a:pPr indent="-2374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 pollutants include nitrogen oxides (NOx), carbon monoxide (CO) and volatile organic compounds (VOCs).</a:t>
            </a:r>
            <a:endParaRPr/>
          </a:p>
          <a:p>
            <a:pPr indent="-2374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gases contribute to smog formation, respiratory diseases and environmental damage.</a:t>
            </a:r>
            <a:endParaRPr/>
          </a:p>
          <a:p>
            <a:pPr indent="-2374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Urban areas with heavy traffic experience higher pollution levels.</a:t>
            </a:r>
            <a:endParaRPr/>
          </a:p>
          <a:p>
            <a:pPr indent="-2374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 need for low‑cost technologies that can reduce pollution directly in the environment.</a:t>
            </a:r>
            <a:endParaRPr/>
          </a:p>
        </p:txBody>
      </p:sp>
      <p:pic>
        <p:nvPicPr>
          <p:cNvPr id="65" name="Google Shape;6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76300" y="1561475"/>
            <a:ext cx="5077501" cy="39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838200" y="365125"/>
            <a:ext cx="10514700" cy="684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HMW Statement</a:t>
            </a:r>
            <a:endParaRPr/>
          </a:p>
        </p:txBody>
      </p:sp>
      <p:sp>
        <p:nvSpPr>
          <p:cNvPr id="68" name="Google Shape;68;p3"/>
          <p:cNvSpPr txBox="1"/>
          <p:nvPr/>
        </p:nvSpPr>
        <p:spPr>
          <a:xfrm>
            <a:off x="838200" y="1356350"/>
            <a:ext cx="5518800" cy="4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IN" sz="2400" u="none" cap="none" strike="noStrike">
                <a:solidFill>
                  <a:schemeClr val="dk1"/>
                </a:solidFill>
              </a:rPr>
              <a:t>How Might We (HMW) design an affordable photocatalytic paint that can be applied on roadside walls and infrastructure to reduce harmful air pollutants using sunlight?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IN" sz="2400" u="none" cap="none" strike="noStrike">
                <a:solidFill>
                  <a:schemeClr val="dk1"/>
                </a:solidFill>
              </a:rPr>
              <a:t>Key Goals: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IN" sz="2400" u="none" cap="none" strike="noStrike">
                <a:solidFill>
                  <a:schemeClr val="dk1"/>
                </a:solidFill>
              </a:rPr>
              <a:t>• Reduce NOx and VOC pollutants near roads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IN" sz="2400" u="none" cap="none" strike="noStrike">
                <a:solidFill>
                  <a:schemeClr val="dk1"/>
                </a:solidFill>
              </a:rPr>
              <a:t>• Use natural sunlight as the energy source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IN" sz="2400" u="none" cap="none" strike="noStrike">
                <a:solidFill>
                  <a:schemeClr val="dk1"/>
                </a:solidFill>
              </a:rPr>
              <a:t>• Apply green chemistry principles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IN" sz="2400" u="none" cap="none" strike="noStrike">
                <a:solidFill>
                  <a:schemeClr val="dk1"/>
                </a:solidFill>
              </a:rPr>
              <a:t>• Develop a scalable and sustainable solution for urban environments.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pic>
        <p:nvPicPr>
          <p:cNvPr id="69" name="Google Shape;6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56992" y="1619577"/>
            <a:ext cx="4995901" cy="491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838200" y="365125"/>
            <a:ext cx="10624200" cy="605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838200" y="970826"/>
            <a:ext cx="11467500" cy="56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The core problem is that roadside pollution from transportation emissions is continuously increasing in cities.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To address this problem, we defined three major aspects: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Objectives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Our objectives are: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Reduce harmful air pollutants near roads.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Develop a sustainable pollution reduction technology.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Use photocatalysis driven by sunlight to break down pollutants.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Constraints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However, there are also some limitations: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The system depends on availability of sunlight.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The coating must be durable and long-lasting.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Environmental factors like dust, humidity, and weather can affect performance.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 txBox="1"/>
          <p:nvPr>
            <p:ph type="title"/>
          </p:nvPr>
        </p:nvSpPr>
        <p:spPr>
          <a:xfrm>
            <a:off x="838200" y="346075"/>
            <a:ext cx="10659000" cy="787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Existing Solutions – Photocatalytic Paints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838463" y="1410290"/>
            <a:ext cx="95448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researchers use titanium dioxide (TiO₂) coatings for pollution reduction.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exposed to sunlight, TiO₂ produces reactive radicals that break down pollutants.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Studies show TiO₂ coatings can degrade nitrogen oxides and VOCs in polluted environments.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coatings are used in paints, concrete and building surfaces.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475" y="0"/>
            <a:ext cx="1211844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Existing Solutions – Advanced Photocatalysts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837892" y="1775728"/>
            <a:ext cx="95448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Researchers have developed improved photocatalysts such 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Nitrogen‑doped TiO₂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Graphene‑TiO₂ composites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Metal‑doped TiO₂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modifications increase photocatalytic efficiency and allow reactions under visible light conditions.</a:t>
            </a:r>
            <a:endParaRPr/>
          </a:p>
        </p:txBody>
      </p:sp>
      <p:pic>
        <p:nvPicPr>
          <p:cNvPr id="132" name="Google Shape;13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0350"/>
            <a:ext cx="12191996" cy="67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title"/>
          </p:nvPr>
        </p:nvSpPr>
        <p:spPr>
          <a:xfrm>
            <a:off x="838200" y="365125"/>
            <a:ext cx="10530900" cy="732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Materials Used in Photocatalytic Paint</a:t>
            </a:r>
            <a:endParaRPr/>
          </a:p>
        </p:txBody>
      </p:sp>
      <p:sp>
        <p:nvSpPr>
          <p:cNvPr id="80" name="Google Shape;80;p1"/>
          <p:cNvSpPr txBox="1"/>
          <p:nvPr/>
        </p:nvSpPr>
        <p:spPr>
          <a:xfrm>
            <a:off x="7750" y="1189800"/>
            <a:ext cx="12192000" cy="56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Photocatalytic paints contain several important components.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1. Titanium Dioxide Nanoparticles:-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TiO₂ acts as the main photocatalyst responsible for pollutant degradation.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2. Paint Binder:-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Binders such as acrylic or silicate help the paint stick to surfaces like.concrete on walls.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3. Additives:-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 Additives improve: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 Stability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Adhesion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Durability of the coating.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Together, these materials create a coating capable of initiating photocatalytic reactions when exposed to sunlight.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type="title"/>
          </p:nvPr>
        </p:nvSpPr>
        <p:spPr>
          <a:xfrm>
            <a:off x="857870" y="361324"/>
            <a:ext cx="10451700" cy="651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Photocatalytic Mechanism</a:t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5616411" y="4402004"/>
            <a:ext cx="259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870150" y="1012625"/>
            <a:ext cx="104517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When sunlight strikes TiO₂, electrons become excited and move to a higher energy level.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This creates electron‑hole pairs that trigger oxidation reactions.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The reactions produce: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• Hydroxyl radicals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• Superoxide radicals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These reactive species break down pollutants like NOx and VOCs into harmless compounds such as nitrates, carbon dioxide and water.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838200" y="365125"/>
            <a:ext cx="10503900" cy="553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Laboratory Research Advances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838200" y="918625"/>
            <a:ext cx="10503900" cy="56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Many laboratory experiments have tested the effectiveness of photocatalytic coatings.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Results show that TiO₂ coatings can remove about 20% of nitrogen oxide pollutants under controlled conditions.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Advanced nanomaterials can achieve even higher removal efficiencies.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Researchers also study several important factors that influence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performance: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Humidity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Light intensity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Amount of catalyst used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By optimizing these factors, scientists are improving the efficiency of photocatalytic materials.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838200" y="365125"/>
            <a:ext cx="10680600" cy="6861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Field Applications</a:t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755700" y="1051225"/>
            <a:ext cx="106806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Photocatalytic paints have already been tested in real-world environments.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Some applications include: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</a:rPr>
              <a:t>Roadside concrete walls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</a:rPr>
              <a:t>Building facades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Tunnel interiors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Urban pavements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Field experiments have shown localized reduction of pollutants near coated surfaces.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</a:rPr>
              <a:t>Some studies reported NOx reduction between 5% and 20% in urban environments.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838200" y="365125"/>
            <a:ext cx="10667700" cy="640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Challenges and Limitations</a:t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838200" y="1005325"/>
            <a:ext cx="10667700" cy="5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Despite the advantages, there are still some challenges.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First, the efficiency depends heavily on sunlight intensity.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Second, dust and pollution particles can cover the catalyst surface and reduce its activity.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Third, weather conditions such as rain, humidity, and temperature may affect the durability of the coating.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Another limitation is that large-scale pollution reduction requires coating very large surface areas, which may increase cost.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Therefore, researchers are working on improving efficiency and durability.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title"/>
          </p:nvPr>
        </p:nvSpPr>
        <p:spPr>
          <a:xfrm>
            <a:off x="838200" y="365125"/>
            <a:ext cx="10659900" cy="634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Future Trends and Industry Outlook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38200" y="999325"/>
            <a:ext cx="10659900" cy="49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research in this field is focused on developing more efficient photocatalysts.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Scientists are working 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Visible-light active catalysts that work even without strong sunlight.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Nanostructured photocatalysts for higher efficiency.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Self-cleaning surfaces that maintain catalytic activity for longer.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future, smart city infrastructure may integrate photocatalytic coatings into: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Buildings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infrastructure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838200" y="374650"/>
            <a:ext cx="10453500" cy="6597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  <p:pic>
        <p:nvPicPr>
          <p:cNvPr descr="WhatsApp Image 2026-03-15 at 15.11.46.jpeg" id="112" name="Google Shape;1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37400" y="1034350"/>
            <a:ext cx="5426477" cy="546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-1" y="1034350"/>
            <a:ext cx="67374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Our proposed solution is to develop a low-cost photocatalytic paint for roadside surfaces.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The method includes: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Mixing Titanium Dioxide powder with standard exterior paint.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Applying this paint on roadside walls and barriers.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When sunlight strikes the surface, the photocatalytic reaction begins.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Pollutants near the surface are broken down into harmless compounds.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This approach is simple, cost-effective, and can be implemented on existing urban infrastructure.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38200" y="365125"/>
            <a:ext cx="10514700" cy="780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Sustainability and Green Chemistry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838200" y="1145725"/>
            <a:ext cx="10514700" cy="56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Our solution follows several green chemistry principles.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Catalysis:-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TiO₂ acts as a catalyst and is not consumed during the reaction.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Energy Efficiency:-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The system uses sunlight as the energy source, reducing external energy requirements.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Pollution Prevention:-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Instead of treating pollution later, this method breaks down pollutants immediately in the environment.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</a:rPr>
              <a:t>Environmentally Safe Materials:-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Titanium dioxide is non-toxic, stable, and widely available, making it environmentally safe.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These features make the solution sustainable and eco-friendly.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9500" cy="702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Impact of the Solution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5188" y="2723313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838300" y="1527650"/>
            <a:ext cx="10519500" cy="4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If implemented successfully, this technology can have several positive impacts: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Reduce air pollution near busy roads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Improve public health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Lower the risk of respiratory diseases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Support sustainable urban development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Contribute to cleaner and healthier cities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Even small reductions in pollution can significantly improve urban air quality over time.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365125"/>
            <a:ext cx="10500000" cy="6417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846000" y="1006817"/>
            <a:ext cx="10500000" cy="5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In conclusion, photocatalytic paints offer a promising solution for reducing roadside air pollution.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By using Titanium Dioxide and sunlight, harmful pollutants such as NOx and VOCs can be broken down into safer compounds.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Although challenges still exist, ongoing research is improving the efficiency and durability of these materials.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With further development and large-scale implementation, photocatalytic coatings could become an important technology for sustainable cities and cleaner air.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</a:rPr>
              <a:t>Thank you.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838200" y="365125"/>
            <a:ext cx="10515600" cy="7059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I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Fujishima et al., 2000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Maggos et al., 2007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Chen &amp; Poon, 2017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Salvadores et al., 2020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Geng et al., 2022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Wang et al., 2023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Ghamarpoor et al., 2024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 et al., 2025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25" y="441050"/>
            <a:ext cx="5453450" cy="603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5935475" y="441050"/>
            <a:ext cx="57321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highlight>
                  <a:srgbClr val="FFFFFF"/>
                </a:highlight>
              </a:rPr>
              <a:t>The paint functions as a "passive" air purifier using a process called photocatalysis: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highlight>
                  <a:srgbClr val="FFFFFF"/>
                </a:highlight>
              </a:rPr>
              <a:t>1. Activation: Sunlight (UV rays) hits the titanium dioxide (TiO2) nanoparticles in the paint.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highlight>
                  <a:srgbClr val="FFFFFF"/>
                </a:highlight>
              </a:rPr>
              <a:t>2. Reaction: The energized particles react with moisture in the air to create reactive "hydroxyl radicals".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highlight>
                  <a:srgbClr val="FFFFFF"/>
                </a:highlight>
              </a:rPr>
              <a:t>3.Neutralization: These radicals attack pollutant molecules (like smog-causing NO), decomposing them into nitrate salts that are later washed away by rain.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207" y="0"/>
            <a:ext cx="12213207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648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